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99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7" r:id="rId6"/>
    <p:sldId id="306" r:id="rId7"/>
    <p:sldId id="308" r:id="rId8"/>
    <p:sldId id="307" r:id="rId9"/>
    <p:sldId id="309" r:id="rId10"/>
    <p:sldId id="300" r:id="rId11"/>
    <p:sldId id="301" r:id="rId12"/>
    <p:sldId id="310" r:id="rId13"/>
    <p:sldId id="302" r:id="rId14"/>
    <p:sldId id="311" r:id="rId15"/>
    <p:sldId id="303" r:id="rId16"/>
    <p:sldId id="30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95388" autoAdjust="0"/>
  </p:normalViewPr>
  <p:slideViewPr>
    <p:cSldViewPr snapToGrid="0" showGuides="1">
      <p:cViewPr varScale="1">
        <p:scale>
          <a:sx n="78" d="100"/>
          <a:sy n="78" d="100"/>
        </p:scale>
        <p:origin x="1176" y="6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72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5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16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204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4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6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012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69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22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885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304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62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07-02-2026                                                        Next-Gen Intelligence: AI, Analytics, and Data Science Across Global Domains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B1561DF-26A0-6739-95BB-64CDC4C2C6C7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53579F-32D7-9FD1-DC84-FA7E491BF51E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A544AA-CD43-1627-B3BA-3D86AE3F66BA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B9861A-053E-6F37-B96F-66C27B486406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4167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51164"/>
            <a:ext cx="11265407" cy="2847608"/>
          </a:xfrm>
        </p:spPr>
        <p:txBody>
          <a:bodyPr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Research Conference 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Next-Gen Intelligence: AI, Analytics, and Data Science Across Global Domains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GB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-2026)</a:t>
            </a: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by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IT, SD, 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MSc. BDA</a:t>
            </a: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 Hind College, </a:t>
            </a:r>
            <a:r>
              <a:rPr lang="en-US" alt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Churchgate </a:t>
            </a:r>
            <a:r>
              <a:rPr lang="en-US" alt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</a:t>
            </a:r>
          </a:p>
        </p:txBody>
      </p:sp>
      <p:sp>
        <p:nvSpPr>
          <p:cNvPr id="6" name="Title 5"/>
          <p:cNvSpPr txBox="1">
            <a:spLocks/>
          </p:cNvSpPr>
          <p:nvPr/>
        </p:nvSpPr>
        <p:spPr>
          <a:xfrm>
            <a:off x="832103" y="3498773"/>
            <a:ext cx="10515600" cy="105847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dirty="0"/>
              <a:t>Kisan </a:t>
            </a:r>
            <a:r>
              <a:rPr lang="en-IN" b="1" dirty="0" smtClean="0"/>
              <a:t>Sahayak: An </a:t>
            </a:r>
            <a:r>
              <a:rPr lang="en-IN" b="1" dirty="0"/>
              <a:t>AI powered Framework for Subsidy Recommendation for Farmers in India</a:t>
            </a:r>
          </a:p>
        </p:txBody>
      </p:sp>
      <p:sp>
        <p:nvSpPr>
          <p:cNvPr id="7" name="Text Placeholder 6"/>
          <p:cNvSpPr txBox="1">
            <a:spLocks/>
          </p:cNvSpPr>
          <p:nvPr/>
        </p:nvSpPr>
        <p:spPr>
          <a:xfrm>
            <a:off x="832103" y="4628018"/>
            <a:ext cx="10515600" cy="604683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ID: (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NRC_11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1D7D71-AF56-6B19-C8BC-E32DAE803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32112" cy="1194683"/>
          </a:xfrm>
          <a:prstGeom prst="rect">
            <a:avLst/>
          </a:prstGeom>
        </p:spPr>
      </p:pic>
      <p:sp>
        <p:nvSpPr>
          <p:cNvPr id="9" name="Footer Placeholder 7"/>
          <p:cNvSpPr txBox="1">
            <a:spLocks/>
          </p:cNvSpPr>
          <p:nvPr/>
        </p:nvSpPr>
        <p:spPr>
          <a:xfrm>
            <a:off x="581191" y="6423914"/>
            <a:ext cx="969888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903C-E1B5-0161-DBDE-857005BA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07" y="673768"/>
            <a:ext cx="11346113" cy="1125535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The Scale of Indian Agriculture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F34B-9CEF-C1E6-6B10-1C0F1D73B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858" y="1618183"/>
            <a:ext cx="11662610" cy="413368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~58%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India’s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contributing to ~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GDP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large agricultural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subsidies (~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₹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trillion in 2024-25)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ranging from fertilizers to insurance to income support and much more.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85% are small/marginal farmers (&lt;2 hectares) with limited resources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existence of subsidies does not automatically translate into access 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 due to poor targeting and administrative leakages.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challenge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policy absence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access failure.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1" y="6423914"/>
            <a:ext cx="9463354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4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903C-E1B5-0161-DBDE-857005BA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08" y="641688"/>
            <a:ext cx="11029616" cy="62355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F34B-9CEF-C1E6-6B10-1C0F1D73B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947" y="1276863"/>
            <a:ext cx="11662610" cy="4902711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Rural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 ownership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surged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74.8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yet digital proficiency remains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WhatsApp/YouTube, but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complex, text-heavy government forms 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ministries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rules and timelines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view.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portals (like myscheme.gov.in) 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advisors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user knows exactly what to search for.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(Bureaucratic, Text-Heavy, English)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capability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(Voice-First, Vernacular, Intuitive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intermediaries for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1" y="6423914"/>
            <a:ext cx="9463354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0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6B9F-0ED2-62BE-0FB5-2E24CC3D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56" y="623326"/>
            <a:ext cx="11029616" cy="645035"/>
          </a:xfrm>
        </p:spPr>
        <p:txBody>
          <a:bodyPr/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7488-DE11-9848-A2FE-E3204375C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612" y="1466733"/>
            <a:ext cx="5947947" cy="49571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voice-first, conversational AI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deployed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Telegram?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an interface farmers already trust and use and works on low-bandwidth networks (unlike heavy web portals).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Allowed for quick deployment and testing.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Technology:</a:t>
            </a: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facts from official government PDFs instead of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guessing.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voice input in local dialects (Hindi/Gujarati) and responds in audio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9130844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A147488-DE11-9848-A2FE-E3204375C99B}"/>
              </a:ext>
            </a:extLst>
          </p:cNvPr>
          <p:cNvSpPr txBox="1">
            <a:spLocks/>
          </p:cNvSpPr>
          <p:nvPr/>
        </p:nvSpPr>
        <p:spPr>
          <a:xfrm>
            <a:off x="6400803" y="1466733"/>
            <a:ext cx="5391804" cy="49571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Architecture: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Mode (Implemented):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Strictly extracts facts from government guidelines.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Mode (Future):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separate logic layer for personalized eligibility (not just AI guessing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flow: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 asks a question (voice or text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relevant documents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is delivered (voice/text).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65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6B9F-0ED2-62BE-0FB5-2E24CC3D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60" y="686391"/>
            <a:ext cx="11552330" cy="58196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Choice: RAG vs Fine-Tuned LLMs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9130844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A147488-DE11-9848-A2FE-E3204375C99B}"/>
              </a:ext>
            </a:extLst>
          </p:cNvPr>
          <p:cNvSpPr txBox="1">
            <a:spLocks/>
          </p:cNvSpPr>
          <p:nvPr/>
        </p:nvSpPr>
        <p:spPr>
          <a:xfrm>
            <a:off x="408611" y="1373055"/>
            <a:ext cx="11458923" cy="168477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produce fluent text based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massive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(RAG)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architecture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language models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generation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knowledge retrieval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79246"/>
              </p:ext>
            </p:extLst>
          </p:nvPr>
        </p:nvGraphicFramePr>
        <p:xfrm>
          <a:off x="2001008" y="3195481"/>
          <a:ext cx="8189985" cy="252788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97775">
                  <a:extLst>
                    <a:ext uri="{9D8B030D-6E8A-4147-A177-3AD203B41FA5}">
                      <a16:colId xmlns:a16="http://schemas.microsoft.com/office/drawing/2014/main" val="10478110"/>
                    </a:ext>
                  </a:extLst>
                </a:gridCol>
                <a:gridCol w="3367975">
                  <a:extLst>
                    <a:ext uri="{9D8B030D-6E8A-4147-A177-3AD203B41FA5}">
                      <a16:colId xmlns:a16="http://schemas.microsoft.com/office/drawing/2014/main" val="2749715814"/>
                    </a:ext>
                  </a:extLst>
                </a:gridCol>
                <a:gridCol w="3324235">
                  <a:extLst>
                    <a:ext uri="{9D8B030D-6E8A-4147-A177-3AD203B41FA5}">
                      <a16:colId xmlns:a16="http://schemas.microsoft.com/office/drawing/2014/main" val="3255906810"/>
                    </a:ext>
                  </a:extLst>
                </a:gridCol>
              </a:tblGrid>
              <a:tr h="459473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Fine-Tuned LLM (Risk)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RAG (Solution)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739979"/>
                  </a:ext>
                </a:extLst>
              </a:tr>
              <a:tr h="51718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Prone to Hallucination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 smtClean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Grounded </a:t>
                      </a: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official PDFs 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341334"/>
                  </a:ext>
                </a:extLst>
              </a:tr>
              <a:tr h="51718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Traceability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 Box (No sources)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 smtClean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</a:t>
                      </a: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(Cites sources) 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689154"/>
                  </a:ext>
                </a:extLst>
              </a:tr>
              <a:tr h="517182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(Requires retraining)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 smtClean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</a:t>
                      </a: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(Real-time updates) 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748168"/>
                  </a:ext>
                </a:extLst>
              </a:tr>
              <a:tr h="516866">
                <a:tc>
                  <a:txBody>
                    <a:bodyPr/>
                    <a:lstStyle/>
                    <a:p>
                      <a:pPr rtl="0"/>
                      <a:r>
                        <a:rPr lang="en-IN" sz="2000" b="1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IN" sz="2000" dirty="0">
                        <a:ln>
                          <a:noFill/>
                        </a:ln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(Expensive compute)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2000" b="0" dirty="0" smtClean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lang="en-IN" sz="2000" b="0" dirty="0">
                          <a:ln>
                            <a:noFill/>
                          </a:ln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(Efficient storage) 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1022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5705" y="5828061"/>
            <a:ext cx="110251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prioritizes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Faithfulness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 Fluency,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high-stakes financial subsidies.</a:t>
            </a:r>
          </a:p>
        </p:txBody>
      </p:sp>
    </p:spTree>
    <p:extLst>
      <p:ext uri="{BB962C8B-B14F-4D97-AF65-F5344CB8AC3E}">
        <p14:creationId xmlns:p14="http://schemas.microsoft.com/office/powerpoint/2010/main" val="9314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6B9F-0ED2-62BE-0FB5-2E24CC3D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08" y="628416"/>
            <a:ext cx="11029616" cy="66142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7488-DE11-9848-A2FE-E3204375C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88" y="1363579"/>
            <a:ext cx="5708731" cy="506033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layered, modular architecture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Telegram-based interaction (low bandwidth, familiar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ASR, translation, TTS for multilingual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pipeline (retrieval → augmentation → generation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PDFs + curated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summaries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 orchestration and session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handling</a:t>
            </a:r>
          </a:p>
          <a:p>
            <a:pPr marL="0" indent="0">
              <a:buNone/>
            </a:pP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system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information-only behavior.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9130844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620" y="786318"/>
            <a:ext cx="6077844" cy="56538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381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0410-9688-9D50-1B1A-46B8A9332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04" y="604684"/>
            <a:ext cx="11029616" cy="634183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data &amp; tech stack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3446-FC97-91D6-C6D1-C837DF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06" y="1673987"/>
            <a:ext cx="5037943" cy="4196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Source: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operational guidelines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major agricultural schemes such as PM-KISAN, PMFBY, PM-KSY, PM-KMY, KCC, and RWBCIS, obtained in PDF format from official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portals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documents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to simplify and consolidate information distributed across lengthy and complex guideline documents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1" y="6423914"/>
            <a:ext cx="9643463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953446-FC97-91D6-C6D1-C837DFC2D5D5}"/>
              </a:ext>
            </a:extLst>
          </p:cNvPr>
          <p:cNvSpPr txBox="1">
            <a:spLocks/>
          </p:cNvSpPr>
          <p:nvPr/>
        </p:nvSpPr>
        <p:spPr>
          <a:xfrm>
            <a:off x="6455626" y="1673987"/>
            <a:ext cx="5114582" cy="4196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 </a:t>
            </a: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 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ChromaDB (for semantic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search;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lightweight).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Embeddings: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BAAI/bge-m3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(for similarity search; multilingual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retrieval).</a:t>
            </a:r>
            <a:endParaRPr lang="en-IN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 Engine: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LLaMA-based model hosted on Groq (for fast inference).</a:t>
            </a:r>
          </a:p>
          <a:p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API + Google Speech-to-Text for voice interaction.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51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5B99-6139-CE3C-E516-13087E355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215" y="765220"/>
            <a:ext cx="11636985" cy="543318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Data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CA33-CF07-AD07-D5BC-F142B43C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29" y="1308538"/>
            <a:ext cx="11539471" cy="51626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Dual-Format Ingestion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PDFs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(Official Guidelines):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with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-aware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to preserve headings.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DOCX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(Curated Summaries):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paragraph-wise for clean, linear text.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Strategy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recursive splitting followed by Chunk Consolidation (merging small adjacent chunks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context loss and reduces fragmentation of complex policy clauses.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Header-Aware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headers to tag chunks with context (e.g., Eligibility, Exclusions). Enables the system to find relevant answers even if the user doesn't use exact keywords.</a:t>
            </a:r>
            <a:endParaRPr lang="en-IN" sz="22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9883874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71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5B99-6139-CE3C-E516-13087E355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21" y="722671"/>
            <a:ext cx="11539471" cy="545690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Retrieval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Generation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CA33-CF07-AD07-D5BC-F142B43C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29" y="1379621"/>
            <a:ext cx="11436232" cy="50442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Search &amp; Storage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ChromaDB using sentence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BAAI/bge-m3) optimized for semantic similarity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Summary documents are ranked higher; PDFs serve as authoritative verification.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Logic: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Section-aware retrieval using metadata context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Strict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prompt prohibits inference 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assumptions.</a:t>
            </a:r>
          </a:p>
          <a:p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Safety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Explicitly returns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“Information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found”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data 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absent or has low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hallucinations.</a:t>
            </a:r>
            <a:endParaRPr lang="en-IN" sz="220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9883874" cy="365125"/>
          </a:xfrm>
        </p:spPr>
        <p:txBody>
          <a:bodyPr/>
          <a:lstStyle/>
          <a:p>
            <a:r>
              <a:rPr lang="en-US" sz="1100"/>
              <a:t>07-02-2026                                                        Next-Gen Intelligence: AI, Analytics, and Data Science Across Global Domains</a:t>
            </a:r>
            <a:endParaRPr lang="en-US" sz="11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0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C50A-B5A4-5779-DE6A-609C9986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02" y="702156"/>
            <a:ext cx="11029616" cy="590616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Evaluation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D03E9-F4D7-D67C-EB65-A2D997CDA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21" y="1292772"/>
            <a:ext cx="5551594" cy="4990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faithfulness, coverage, and robustness in accessing official scheme information, rather than just conversational fluency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Strategy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Offline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Testing: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predefined queries (eligibility, exclusions, ambiguous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phrasing, etc.)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directly against the backend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Testing: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Telegram bot trials using Text &amp; Voice in English, Hindi, and Gujarati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1" y="6423914"/>
            <a:ext cx="9809717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4D03E9-F4D7-D67C-EB65-A2D997CDA319}"/>
              </a:ext>
            </a:extLst>
          </p:cNvPr>
          <p:cNvSpPr txBox="1">
            <a:spLocks/>
          </p:cNvSpPr>
          <p:nvPr/>
        </p:nvSpPr>
        <p:spPr>
          <a:xfrm>
            <a:off x="6259933" y="1287685"/>
            <a:ext cx="5533702" cy="4990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Successes: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on clear queries (e.g.,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“What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PMFBY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?”).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“Information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fallbacks, eliminating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Dominance: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PDF chunks sometimes overpowered clean summaries due to semantic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Barrier: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ASR (Speech-to-Text) errors in Hindi/Gujarati occasionally caused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“Intent Drift”.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62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41D6-E1E5-71C5-F50A-794E6235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68" y="702156"/>
            <a:ext cx="11029616" cy="610450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FUTURE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10336190" cy="365125"/>
          </a:xfrm>
        </p:spPr>
        <p:txBody>
          <a:bodyPr/>
          <a:lstStyle/>
          <a:p>
            <a:r>
              <a:rPr lang="en-US" sz="1100"/>
              <a:t>07-02-2026                                                        Next-Gen Intelligence: AI, Analytics, and Data Science Across Global Domains</a:t>
            </a:r>
            <a:endParaRPr lang="en-US" sz="11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0483D0-AC4E-BD73-BFDE-B8E6E1A9AC37}"/>
              </a:ext>
            </a:extLst>
          </p:cNvPr>
          <p:cNvSpPr txBox="1">
            <a:spLocks/>
          </p:cNvSpPr>
          <p:nvPr/>
        </p:nvSpPr>
        <p:spPr>
          <a:xfrm>
            <a:off x="720532" y="1637066"/>
            <a:ext cx="5001839" cy="3672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Central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schemes (State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schemes excluded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stateless (no conversational memory).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one scheme at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support cross-scheme comparisons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for landless farmers.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2090" y="1619495"/>
            <a:ext cx="5437842" cy="408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Enhancement: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Personalization: Moving from "Information Mode" to "Decision Mode" (e.g., checking specific eligibility based on land size).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Bhashini Integration: For superior native-language intent detection.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Pipelines: To ingest scanned/image-based government circulars.</a:t>
            </a:r>
          </a:p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mplementing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memory to allow users to ask follow-up </a:t>
            </a: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questions.</a:t>
            </a:r>
          </a:p>
        </p:txBody>
      </p:sp>
    </p:spTree>
    <p:extLst>
      <p:ext uri="{BB962C8B-B14F-4D97-AF65-F5344CB8AC3E}">
        <p14:creationId xmlns:p14="http://schemas.microsoft.com/office/powerpoint/2010/main" val="151051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41D6-E1E5-71C5-F50A-794E62357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50" y="702156"/>
            <a:ext cx="11029616" cy="590616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83D0-AC4E-BD73-BFDE-B8E6E1A9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948" y="1322267"/>
            <a:ext cx="11188020" cy="444435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Proven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RAG is a viable architecture for providing accurate, verifiable, and non-advisory access to agricultural schemes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Trust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Faithfulness over Fluency. The system eliminates hallucinations by strictly grounding answers in official docs or triggering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“Information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Found”.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Asymmetry by converting complex, static policy documents into accessible, multilingual voice interactions for farmers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establishes a solid foundation for a trustworthy assistant that bridges the gap between static government policy and actionable farmer support.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10336190" cy="365125"/>
          </a:xfrm>
        </p:spPr>
        <p:txBody>
          <a:bodyPr/>
          <a:lstStyle/>
          <a:p>
            <a:r>
              <a:rPr lang="en-US" sz="1100"/>
              <a:t>07-02-2026                                                        Next-Gen Intelligence: AI, Analytics, and Data Science Across Global Domains</a:t>
            </a:r>
            <a:endParaRPr lang="en-US" sz="11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25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6446-564F-9D6B-C7F3-6B54BEBC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66944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92490-ADCC-AA50-C236-1A65331D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6" y="1371599"/>
            <a:ext cx="11547986" cy="482272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ForumIAS, “Farm subsidies in India,” 2024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2] Drishti IAS, “Rationalizing subsidies in India,” 2024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3] BioThink, BioThink Journal, vol. 16, 2025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4] Rest Publisher, “The role of subsidies in shaping Indian agriculture: An economic perspective,” 2025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5] Government of India, Agriculture Census 2015–16, Department of Agriculture, Cooperation and Farmers Welfare, New Delhi, India, 2019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6] Drishti IAS, “Reforming agricultural subsidies,” 2024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7] IJCRT, “Impact of agricultural subsidies on Indian agriculture,” International Journal of Creative Research Thoughts, 2025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8] Rang De, “Understanding farm subsidies,” 2024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9] Government of India, Agriculture Infrastructure Fund: Scheme Guidelines, Ministry of Agriculture and Farmers Welfare, New Delhi, India, 2023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10] International Institute for Sustainable Development, “Agricultural subsidies in India,” 2023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1" y="6423914"/>
            <a:ext cx="9698881" cy="365125"/>
          </a:xfrm>
        </p:spPr>
        <p:txBody>
          <a:bodyPr/>
          <a:lstStyle/>
          <a:p>
            <a:r>
              <a:rPr lang="en-US" sz="1100" dirty="0"/>
              <a:t>07-02-2026                                                        Next-Gen Intelligence: AI, Analytics, and Data Science Across Global Domains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5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26303C-A89C-422C-9097-BDF7002EFC54}">
  <ds:schemaRefs>
    <ds:schemaRef ds:uri="230e9df3-be65-4c73-a93b-d1236ebd677e"/>
    <ds:schemaRef ds:uri="http://purl.org/dc/dcmitype/"/>
    <ds:schemaRef ds:uri="16c05727-aa75-4e4a-9b5f-8a80a1165891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71af3243-3dd4-4a8d-8c0d-dd76da1f02a5"/>
    <ds:schemaRef ds:uri="http://schemas.microsoft.com/sharepoint/v3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DividendVTI</Template>
  <TotalTime>0</TotalTime>
  <Words>1599</Words>
  <Application>Microsoft Office PowerPoint</Application>
  <PresentationFormat>Widescreen</PresentationFormat>
  <Paragraphs>156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Times New Roman</vt:lpstr>
      <vt:lpstr>Wingdings 2</vt:lpstr>
      <vt:lpstr>DividendVTI</vt:lpstr>
      <vt:lpstr>National Research Conference on Next-Gen Intelligence: AI, Analytics, and Data Science Across Global Domains (NRC-2026) organized by Department of IT, SD, MSc. BDA Jai Hind College, Churchgate Mumbai</vt:lpstr>
      <vt:lpstr>INTRODUCTION: The Scale of Indian Agriculture</vt:lpstr>
      <vt:lpstr>PROBLEM STATEMENT</vt:lpstr>
      <vt:lpstr>System overview</vt:lpstr>
      <vt:lpstr>Architecture Choice: RAG vs Fine-Tuned LLMs</vt:lpstr>
      <vt:lpstr>System Architecture</vt:lpstr>
      <vt:lpstr>METHODOLOGY: data &amp; tech stack</vt:lpstr>
      <vt:lpstr>Methodology: Data Processing &amp; ingestion</vt:lpstr>
      <vt:lpstr>Methodology: Retrieval &amp; Generation</vt:lpstr>
      <vt:lpstr>RESULTS AND Evaluation</vt:lpstr>
      <vt:lpstr>Limitations and FUTURE enhancement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Research Conference on Next-Gen Intelligence: AI, Analytics, and Data Science Across Global Domains (NRC-2026) organized by Department of IT, SD, MSc.BDA Jai Hind College, Churchgate  Mumbai</dc:title>
  <dc:creator/>
  <cp:lastModifiedBy/>
  <cp:revision>2</cp:revision>
  <dcterms:created xsi:type="dcterms:W3CDTF">2023-12-10T17:10:56Z</dcterms:created>
  <dcterms:modified xsi:type="dcterms:W3CDTF">2026-02-02T19:21:12Z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